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2" d="100"/>
          <a:sy n="122" d="100"/>
        </p:scale>
        <p:origin x="114" y="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281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BE8F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2736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6304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7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星澄飯店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77240" y="2121408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A3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訂單系統期中專題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8163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負責模組：商城訂單、購物車結帳、後台訂單管理、會員訂單查詢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3401568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2736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7472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Order / OrderItem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2606040" y="3401568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276D5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3474720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Spring Boot REST API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4846320" y="3401568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BE8F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347472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Vue Frontend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6510528" y="3401568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B3443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347472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altLang="zh-TW" sz="86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SQLSERVER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777240" y="4937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E8F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Flow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5257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20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商品頁選購 → 購物車結帳 → 後台審查 → 會員查看訂單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A2CE8CF8-EEAE-9D65-4921-505197D57096}"/>
              </a:ext>
            </a:extLst>
          </p:cNvPr>
          <p:cNvSpPr txBox="1"/>
          <p:nvPr/>
        </p:nvSpPr>
        <p:spPr>
          <a:xfrm>
            <a:off x="688535" y="4001946"/>
            <a:ext cx="4157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rgbClr val="002060"/>
                </a:solidFill>
                <a:latin typeface="+mj-lt"/>
              </a:rPr>
              <a:t>參考來源是由蝦</a:t>
            </a:r>
            <a:r>
              <a:rPr lang="en-US" altLang="zh-TW" b="1" dirty="0">
                <a:solidFill>
                  <a:srgbClr val="002060"/>
                </a:solidFill>
                <a:latin typeface="+mj-lt"/>
              </a:rPr>
              <a:t>X</a:t>
            </a:r>
            <a:r>
              <a:rPr lang="zh-TW" altLang="en-US" b="1" dirty="0">
                <a:solidFill>
                  <a:srgbClr val="002060"/>
                </a:solidFill>
                <a:latin typeface="+mj-lt"/>
              </a:rPr>
              <a:t>以及</a:t>
            </a:r>
            <a:r>
              <a:rPr lang="en-US" altLang="zh-TW" b="1" dirty="0">
                <a:solidFill>
                  <a:srgbClr val="002060"/>
                </a:solidFill>
                <a:latin typeface="+mj-lt"/>
              </a:rPr>
              <a:t>M?M?</a:t>
            </a:r>
            <a:r>
              <a:rPr lang="zh-TW" altLang="en-US" b="1" dirty="0">
                <a:solidFill>
                  <a:srgbClr val="002060"/>
                </a:solidFill>
                <a:latin typeface="+mj-lt"/>
              </a:rPr>
              <a:t>購物網站作根據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BE8F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75488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7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專題背景：訂單系統從購買到後台管理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987552"/>
            <a:ext cx="822960" cy="45720"/>
          </a:xfrm>
          <a:prstGeom prst="rect">
            <a:avLst/>
          </a:prstGeom>
          <a:solidFill>
            <a:srgbClr val="BE8F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7899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讓商城商品可以被會員下單，並讓管理員能檢視、修改狀態與調整商品數量。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4048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090A0"/>
                </a:solidFill>
              </a:rPr>
              <a:t>JAVA 期中專題｜Order System｜ 2/10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2736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7360"/>
            <a:ext cx="32918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E5E0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37360"/>
            <a:ext cx="91440" cy="1234440"/>
          </a:xfrm>
          <a:prstGeom prst="rect">
            <a:avLst/>
          </a:prstGeom>
          <a:solidFill>
            <a:srgbClr val="B3443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9019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7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改版前問題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0392" y="2267712"/>
            <a:ext cx="2971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商品頁只能展示商品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無法形成一張多商品訂單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後台缺少會員資料與狀態管理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訂單資料表與 Java Entity 不一致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34840" y="1737360"/>
            <a:ext cx="32918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E5E0D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1737360"/>
            <a:ext cx="91440" cy="1234440"/>
          </a:xfrm>
          <a:prstGeom prst="rect">
            <a:avLst/>
          </a:prstGeom>
          <a:solidFill>
            <a:srgbClr val="BE8F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5152" y="19019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7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🎯 改版目標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45152" y="2267712"/>
            <a:ext cx="2971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購物車支援多商品與數量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建立 order / order_item 關聯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後台顯示會員資料與商品明細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管理員可調整狀態與商品數量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0" y="1737360"/>
            <a:ext cx="32918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E5E0D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1737360"/>
            <a:ext cx="91440" cy="1234440"/>
          </a:xfrm>
          <a:prstGeom prst="rect">
            <a:avLst/>
          </a:prstGeom>
          <a:solidFill>
            <a:srgbClr val="276D5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39912" y="19019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7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責任邊界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39912" y="2267712"/>
            <a:ext cx="2971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會員資料由 member/profile 讀取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不修改會員系統邏輯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商品資料由商品模組維護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訂單模組只保存關聯 ID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920240" y="4206240"/>
            <a:ext cx="731520" cy="0"/>
          </a:xfrm>
          <a:prstGeom prst="line">
            <a:avLst/>
          </a:prstGeom>
          <a:noFill/>
          <a:ln w="13970">
            <a:solidFill>
              <a:srgbClr val="8FA0B3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931920" y="4206240"/>
            <a:ext cx="731520" cy="0"/>
          </a:xfrm>
          <a:prstGeom prst="line">
            <a:avLst/>
          </a:prstGeom>
          <a:noFill/>
          <a:ln w="13970">
            <a:solidFill>
              <a:srgbClr val="8FA0B3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943600" y="4206240"/>
            <a:ext cx="731520" cy="0"/>
          </a:xfrm>
          <a:prstGeom prst="line">
            <a:avLst/>
          </a:prstGeom>
          <a:noFill/>
          <a:ln w="13970">
            <a:solidFill>
              <a:srgbClr val="8FA0B3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955280" y="4206240"/>
            <a:ext cx="731520" cy="0"/>
          </a:xfrm>
          <a:prstGeom prst="line">
            <a:avLst/>
          </a:prstGeom>
          <a:noFill/>
          <a:ln w="13970">
            <a:solidFill>
              <a:srgbClr val="8FA0B3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77240" y="3886200"/>
            <a:ext cx="12344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0D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10565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商品頁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88920" y="3886200"/>
            <a:ext cx="12344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0D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80360" y="410565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購物車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00600" y="3886200"/>
            <a:ext cx="1234440" cy="640080"/>
          </a:xfrm>
          <a:prstGeom prst="roundRect">
            <a:avLst>
              <a:gd name="adj" fmla="val 7143"/>
            </a:avLst>
          </a:prstGeom>
          <a:solidFill>
            <a:srgbClr val="BE8F3E"/>
          </a:solidFill>
          <a:ln w="12700">
            <a:solidFill>
              <a:srgbClr val="E5E0D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410565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建立訂單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12280" y="3886200"/>
            <a:ext cx="12344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0D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03720" y="410565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後台管理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823960" y="3886200"/>
            <a:ext cx="12344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0D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15400" y="410565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我的訂單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" y="50749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訂單系統將「前台購買行為」轉成「後台可管理的資料流程」。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BE8F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75488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7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 圖：Order / OrderItem 相關資料表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987552"/>
            <a:ext cx="822960" cy="45720"/>
          </a:xfrm>
          <a:prstGeom prst="rect">
            <a:avLst/>
          </a:prstGeom>
          <a:solidFill>
            <a:srgbClr val="BE8F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7899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Order 為訂單主檔；OrderItem 記錄一張訂單中的多個商品。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4048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090A0"/>
                </a:solidFill>
              </a:rPr>
              <a:t>JAVA 期中專題｜Order System｜ 3/10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2736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0280" y="2331720"/>
            <a:ext cx="1508760" cy="0"/>
          </a:xfrm>
          <a:prstGeom prst="line">
            <a:avLst/>
          </a:prstGeom>
          <a:noFill/>
          <a:ln w="13970">
            <a:solidFill>
              <a:srgbClr val="8FA0B3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793492" y="21945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1:N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349240" y="2331720"/>
            <a:ext cx="1508760" cy="0"/>
          </a:xfrm>
          <a:prstGeom prst="line">
            <a:avLst/>
          </a:prstGeom>
          <a:noFill/>
          <a:ln w="13970">
            <a:solidFill>
              <a:srgbClr val="8FA0B3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902452" y="21945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1:N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458200" y="2331720"/>
            <a:ext cx="1508760" cy="0"/>
          </a:xfrm>
          <a:prstGeom prst="line">
            <a:avLst/>
          </a:prstGeom>
          <a:noFill/>
          <a:ln w="13970">
            <a:solidFill>
              <a:srgbClr val="8FA0B3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011412" y="21945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N:1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26280" y="4023360"/>
            <a:ext cx="0" cy="0"/>
          </a:xfrm>
          <a:prstGeom prst="line">
            <a:avLst/>
          </a:prstGeom>
          <a:noFill/>
          <a:ln w="13970">
            <a:solidFill>
              <a:srgbClr val="8FA0B3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4325112" y="33147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0:1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240280" y="4023360"/>
            <a:ext cx="1508760" cy="0"/>
          </a:xfrm>
          <a:prstGeom prst="line">
            <a:avLst/>
          </a:prstGeom>
          <a:noFill/>
          <a:ln w="13970">
            <a:solidFill>
              <a:srgbClr val="8FA0B3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2793492" y="33147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1:1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31520" y="1828800"/>
            <a:ext cx="150876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0160">
            <a:solidFill>
              <a:srgbClr val="D7D1C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1828800"/>
            <a:ext cx="1508760" cy="310896"/>
          </a:xfrm>
          <a:prstGeom prst="rect">
            <a:avLst/>
          </a:prstGeom>
          <a:solidFill>
            <a:srgbClr val="276D5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190195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Member 會員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41248" y="2240280"/>
            <a:ext cx="1289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member_id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account_id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749040" y="1828800"/>
            <a:ext cx="160020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0160">
            <a:solidFill>
              <a:srgbClr val="D7D1C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0" y="1828800"/>
            <a:ext cx="1600200" cy="310896"/>
          </a:xfrm>
          <a:prstGeom prst="rect">
            <a:avLst/>
          </a:prstGeom>
          <a:solidFill>
            <a:srgbClr val="2736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0" y="1901952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Order 訂單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858768" y="2240280"/>
            <a:ext cx="1380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order_id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member_id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payment_id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order_status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858000" y="1828800"/>
            <a:ext cx="160020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0160">
            <a:solidFill>
              <a:srgbClr val="D7D1C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0" y="1828800"/>
            <a:ext cx="1600200" cy="310896"/>
          </a:xfrm>
          <a:prstGeom prst="rect">
            <a:avLst/>
          </a:prstGeom>
          <a:solidFill>
            <a:srgbClr val="BE8F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1901952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OrderItem 明細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967728" y="2240280"/>
            <a:ext cx="1380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PK/FK order_id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PK/FK product_id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9966960" y="1828800"/>
            <a:ext cx="160020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0160">
            <a:solidFill>
              <a:srgbClr val="D7D1C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66960" y="1828800"/>
            <a:ext cx="1600200" cy="310896"/>
          </a:xfrm>
          <a:prstGeom prst="rect">
            <a:avLst/>
          </a:prstGeom>
          <a:solidFill>
            <a:srgbClr val="B3443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0" y="1901952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Product 商品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076688" y="2240280"/>
            <a:ext cx="1380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product_id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product_name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/ stock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749040" y="4023360"/>
            <a:ext cx="160020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0160">
            <a:solidFill>
              <a:srgbClr val="D7D1C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49040" y="4023360"/>
            <a:ext cx="1600200" cy="310896"/>
          </a:xfrm>
          <a:prstGeom prst="rect">
            <a:avLst/>
          </a:prstGeom>
          <a:solidFill>
            <a:srgbClr val="7657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0" y="4096512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Payment 付款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858768" y="4434840"/>
            <a:ext cx="1380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payment_id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total_price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payment_status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31520" y="4023360"/>
            <a:ext cx="150876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0160">
            <a:solidFill>
              <a:srgbClr val="D7D1C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1520" y="4023360"/>
            <a:ext cx="1508760" cy="310896"/>
          </a:xfrm>
          <a:prstGeom prst="rect">
            <a:avLst/>
          </a:prstGeom>
          <a:solidFill>
            <a:srgbClr val="6E8BA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409651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Profile 會員資料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41248" y="4434840"/>
            <a:ext cx="1289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profile_id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account_id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/ phone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49808" y="553212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7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重點：訂單不直接保存商品名稱與會員姓名，而是以 foreign key 串接，畫面需要時再由 Service 打包成 DTO。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BE8F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75488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7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 設計：訂單主檔與訂單明細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987552"/>
            <a:ext cx="822960" cy="45720"/>
          </a:xfrm>
          <a:prstGeom prst="rect">
            <a:avLst/>
          </a:prstGeom>
          <a:solidFill>
            <a:srgbClr val="BE8F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7899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重點是 order_id 使用 IDENTITY、payment_id 允許 NULL、狀態限制與 order_item 複合主鍵。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4048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090A0"/>
                </a:solidFill>
              </a:rPr>
              <a:t>JAVA 期中專題｜Order System｜ 4/10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2736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00200"/>
            <a:ext cx="5303520" cy="292608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673352"/>
            <a:ext cx="4974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Server · dbo.[order]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00200"/>
            <a:ext cx="5349240" cy="292608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6792" y="1673352"/>
            <a:ext cx="50200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Server · dbo.order_item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14400" y="5989320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設計理由：一張訂單可有多筆商品明細；同一張訂單中相同 product_id 只保留一筆，靠 quantity 加總。</a:t>
            </a:r>
            <a:endParaRPr lang="en-US" sz="1100" dirty="0"/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8C1708E5-FBFC-636A-0E2C-D2434CE84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83664"/>
            <a:ext cx="5303520" cy="3922776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AEEBAC63-7C2F-D02D-BE45-36F7819A20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882184"/>
            <a:ext cx="5349240" cy="39242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BE8F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75488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7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流程設計：前台購買，後台管理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987552"/>
            <a:ext cx="822960" cy="45720"/>
          </a:xfrm>
          <a:prstGeom prst="rect">
            <a:avLst/>
          </a:prstGeom>
          <a:solidFill>
            <a:srgbClr val="BE8F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7899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前台負責建立訂單；後台負責檢視會員資料、調整商品與修改訂單狀態。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4048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090A0"/>
                </a:solidFill>
              </a:rPr>
              <a:t>JAVA 期中專題｜Order System｜ 5/10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2736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92808" y="2258568"/>
            <a:ext cx="457200" cy="0"/>
          </a:xfrm>
          <a:prstGeom prst="line">
            <a:avLst/>
          </a:prstGeom>
          <a:noFill/>
          <a:ln w="13970">
            <a:solidFill>
              <a:srgbClr val="8FA0B3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657600" y="2258568"/>
            <a:ext cx="457200" cy="0"/>
          </a:xfrm>
          <a:prstGeom prst="line">
            <a:avLst/>
          </a:prstGeom>
          <a:noFill/>
          <a:ln w="13970">
            <a:solidFill>
              <a:srgbClr val="8FA0B3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22392" y="2258568"/>
            <a:ext cx="457200" cy="0"/>
          </a:xfrm>
          <a:prstGeom prst="line">
            <a:avLst/>
          </a:prstGeom>
          <a:noFill/>
          <a:ln w="13970">
            <a:solidFill>
              <a:srgbClr val="8FA0B3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187184" y="2258568"/>
            <a:ext cx="457200" cy="0"/>
          </a:xfrm>
          <a:prstGeom prst="line">
            <a:avLst/>
          </a:prstGeom>
          <a:noFill/>
          <a:ln w="13970">
            <a:solidFill>
              <a:srgbClr val="8FA0B3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951976" y="2258568"/>
            <a:ext cx="457200" cy="0"/>
          </a:xfrm>
          <a:prstGeom prst="line">
            <a:avLst/>
          </a:prstGeom>
          <a:noFill/>
          <a:ln w="13970">
            <a:solidFill>
              <a:srgbClr val="8FA0B3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58368" y="1874520"/>
            <a:ext cx="13258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5E0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03911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7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商品頁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7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ProductShop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423160" y="1874520"/>
            <a:ext cx="13258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5E0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96312" y="203911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7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購物車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7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CartView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87952" y="1874520"/>
            <a:ext cx="13258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5E0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61104" y="203911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7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POST /api/orders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52744" y="1874520"/>
            <a:ext cx="1325880" cy="777240"/>
          </a:xfrm>
          <a:prstGeom prst="roundRect">
            <a:avLst>
              <a:gd name="adj" fmla="val 5882"/>
            </a:avLst>
          </a:prstGeom>
          <a:solidFill>
            <a:srgbClr val="BE8F3E"/>
          </a:solidFill>
          <a:ln w="12700">
            <a:solidFill>
              <a:srgbClr val="E5E0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25896" y="203911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OrderService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717536" y="1874520"/>
            <a:ext cx="13258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5E0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90688" y="203911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7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 Server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482328" y="1874520"/>
            <a:ext cx="13258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5E0D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55480" y="203911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7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後台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7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AdminOrders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7240" y="3657600"/>
            <a:ext cx="3246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5E0D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3657600"/>
            <a:ext cx="91440" cy="1097280"/>
          </a:xfrm>
          <a:prstGeom prst="rect">
            <a:avLst/>
          </a:prstGeom>
          <a:solidFill>
            <a:srgbClr val="276D5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" y="382219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7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前台會員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87552" y="418795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選擇商品與數量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加入 localStorage 購物車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確認結帳後建立一張多商品訂單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434840" y="3657600"/>
            <a:ext cx="3246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5E0D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34840" y="3657600"/>
            <a:ext cx="91440" cy="1097280"/>
          </a:xfrm>
          <a:prstGeom prst="rect">
            <a:avLst/>
          </a:prstGeom>
          <a:solidFill>
            <a:srgbClr val="BE8F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45152" y="382219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7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後端處理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645152" y="418795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檢查會員存在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檢查商品狀態與庫存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新增 order 並新增多筆 order_item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92440" y="3657600"/>
            <a:ext cx="3246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5E0D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92440" y="3657600"/>
            <a:ext cx="91440" cy="1097280"/>
          </a:xfrm>
          <a:prstGeom prst="rect">
            <a:avLst/>
          </a:prstGeom>
          <a:solidFill>
            <a:srgbClr val="2736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02752" y="382219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7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後台管理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02752" y="418795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顯示會員姓名/電話/信箱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狀態下拉式調整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編輯商品數量或刪除商品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77240" y="562356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7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狀態流程簡化為 PENDING → COMPLETED / CANCELLED，符合期中展示需求。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BE8F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75488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7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Backend：Entity 與 Repository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987552"/>
            <a:ext cx="822960" cy="45720"/>
          </a:xfrm>
          <a:prstGeom prst="rect">
            <a:avLst/>
          </a:prstGeom>
          <a:solidFill>
            <a:srgbClr val="BE8F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7899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Entity 不使用 @ManyToOne 關聯，改用 ID 欄位讓 Service 統一處理資料表關聯。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4048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090A0"/>
                </a:solidFill>
              </a:rPr>
              <a:t>JAVA 期中專題｜Order System｜ 6/10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2736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396648"/>
            <a:ext cx="4086795" cy="292608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468204"/>
            <a:ext cx="4837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 Code · CustomerOrder.java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80760" y="1396648"/>
            <a:ext cx="4372584" cy="292608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463040"/>
            <a:ext cx="50200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 Code · Repository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22960" y="598932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重點：OrderItem 使用 order_id + product_id 複合主鍵，Repository 泛型要使用 OrderItemId。</a:t>
            </a:r>
            <a:endParaRPr lang="en-US" sz="1150" dirty="0"/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B4FBBBD4-79C5-FCAF-3CF0-D72C148B9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86860"/>
            <a:ext cx="4086795" cy="4220164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795001F7-0F76-18E4-AA0A-0EE6D715C8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689256"/>
            <a:ext cx="4372585" cy="2066973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4667D25D-E016-9752-C0C2-96AD0CE329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59" y="3756229"/>
            <a:ext cx="4372585" cy="21440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BE8F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75488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7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Service：建立訂單與 DTO 打包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987552"/>
            <a:ext cx="822960" cy="45720"/>
          </a:xfrm>
          <a:prstGeom prst="rect">
            <a:avLst/>
          </a:prstGeom>
          <a:solidFill>
            <a:srgbClr val="BE8F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7899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Service 負責商業邏輯、庫存檢查、資料表關聯與前端需要的 DTO。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4048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090A0"/>
                </a:solidFill>
              </a:rPr>
              <a:t>JAVA 期中專題｜Order System｜ 7/10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2736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08760"/>
            <a:ext cx="4270248" cy="292608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850392" y="1581912"/>
            <a:ext cx="50200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 Code · OrderService.createOrder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99048" y="438912"/>
            <a:ext cx="3151473" cy="292608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0488" y="528242"/>
            <a:ext cx="4882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 Code · DTO 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-1662332" y="9189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訂單頁不直接查多張表，前端只接收後端整理好的 OrderDTO。</a:t>
            </a:r>
            <a:endParaRPr lang="en-US" sz="1150" dirty="0"/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1317FBFB-7098-F345-D352-61088DF3F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94533"/>
            <a:ext cx="4270248" cy="4619983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7B420461-1CBE-8E2E-3509-E77531BFC9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2953" y="738038"/>
            <a:ext cx="3157568" cy="56764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BE8F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75488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7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設計：前台與後台共用同一套訂單資料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987552"/>
            <a:ext cx="822960" cy="45720"/>
          </a:xfrm>
          <a:prstGeom prst="rect">
            <a:avLst/>
          </a:prstGeom>
          <a:solidFill>
            <a:srgbClr val="BE8F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7899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REST API 提供查詢、新增、狀態修改與明細修改。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4048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090A0"/>
                </a:solidFill>
              </a:rPr>
              <a:t>JAVA 期中專題｜Order System｜ 8/10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2736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417320"/>
            <a:ext cx="2713892" cy="292608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490472"/>
            <a:ext cx="5065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 Code · OrderApiController.java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400800" y="1600200"/>
            <a:ext cx="49377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0D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19672" y="1655064"/>
            <a:ext cx="576072" cy="310896"/>
          </a:xfrm>
          <a:prstGeom prst="roundRect">
            <a:avLst>
              <a:gd name="adj" fmla="val 23529"/>
            </a:avLst>
          </a:prstGeom>
          <a:solidFill>
            <a:srgbClr val="276D5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5392" y="1728216"/>
            <a:ext cx="484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GET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7205472" y="1709928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27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/api/orders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9445752" y="1709928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後台查詢全部訂單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6400800" y="2221992"/>
            <a:ext cx="49377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0D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19672" y="2276856"/>
            <a:ext cx="576072" cy="310896"/>
          </a:xfrm>
          <a:prstGeom prst="roundRect">
            <a:avLst>
              <a:gd name="adj" fmla="val 23529"/>
            </a:avLst>
          </a:prstGeom>
          <a:solidFill>
            <a:srgbClr val="BE8F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65392" y="2350008"/>
            <a:ext cx="484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POST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7205472" y="2331720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27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/api/orders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9445752" y="2331720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會員結帳建立訂單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6400800" y="2843784"/>
            <a:ext cx="49377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0D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19672" y="2898648"/>
            <a:ext cx="576072" cy="310896"/>
          </a:xfrm>
          <a:prstGeom prst="roundRect">
            <a:avLst>
              <a:gd name="adj" fmla="val 23529"/>
            </a:avLst>
          </a:prstGeom>
          <a:solidFill>
            <a:srgbClr val="276D5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65392" y="2971800"/>
            <a:ext cx="484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GET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7205472" y="2953512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27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/api/orders/member/{id}</a:t>
            </a:r>
            <a:endParaRPr lang="en-US" sz="870" dirty="0"/>
          </a:p>
        </p:txBody>
      </p:sp>
      <p:sp>
        <p:nvSpPr>
          <p:cNvPr id="26" name="Text 24"/>
          <p:cNvSpPr/>
          <p:nvPr/>
        </p:nvSpPr>
        <p:spPr>
          <a:xfrm>
            <a:off x="9445752" y="2953512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會員查看自己的訂單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6400800" y="3465576"/>
            <a:ext cx="49377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0D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19672" y="3520440"/>
            <a:ext cx="576072" cy="310896"/>
          </a:xfrm>
          <a:prstGeom prst="roundRect">
            <a:avLst>
              <a:gd name="adj" fmla="val 23529"/>
            </a:avLst>
          </a:prstGeom>
          <a:solidFill>
            <a:srgbClr val="2F5C8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65392" y="3593592"/>
            <a:ext cx="484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PUT</a:t>
            </a:r>
            <a:endParaRPr lang="en-US" sz="860" dirty="0"/>
          </a:p>
        </p:txBody>
      </p:sp>
      <p:sp>
        <p:nvSpPr>
          <p:cNvPr id="30" name="Text 28"/>
          <p:cNvSpPr/>
          <p:nvPr/>
        </p:nvSpPr>
        <p:spPr>
          <a:xfrm>
            <a:off x="7205472" y="3575304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27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/api/orders/{id}/status</a:t>
            </a:r>
            <a:endParaRPr lang="en-US" sz="870" dirty="0"/>
          </a:p>
        </p:txBody>
      </p:sp>
      <p:sp>
        <p:nvSpPr>
          <p:cNvPr id="31" name="Text 29"/>
          <p:cNvSpPr/>
          <p:nvPr/>
        </p:nvSpPr>
        <p:spPr>
          <a:xfrm>
            <a:off x="9445752" y="3575304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後台修改狀態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6400800" y="4087368"/>
            <a:ext cx="49377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0D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19672" y="4142232"/>
            <a:ext cx="576072" cy="310896"/>
          </a:xfrm>
          <a:prstGeom prst="roundRect">
            <a:avLst>
              <a:gd name="adj" fmla="val 23529"/>
            </a:avLst>
          </a:prstGeom>
          <a:solidFill>
            <a:srgbClr val="2F5C8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65392" y="4215384"/>
            <a:ext cx="484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PUT</a:t>
            </a:r>
            <a:endParaRPr lang="en-US" sz="860" dirty="0"/>
          </a:p>
        </p:txBody>
      </p:sp>
      <p:sp>
        <p:nvSpPr>
          <p:cNvPr id="35" name="Text 33"/>
          <p:cNvSpPr/>
          <p:nvPr/>
        </p:nvSpPr>
        <p:spPr>
          <a:xfrm>
            <a:off x="7205472" y="4197096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27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/api/orders/{id}/items/{pid}</a:t>
            </a:r>
            <a:endParaRPr lang="en-US" sz="870" dirty="0"/>
          </a:p>
        </p:txBody>
      </p:sp>
      <p:sp>
        <p:nvSpPr>
          <p:cNvPr id="36" name="Text 34"/>
          <p:cNvSpPr/>
          <p:nvPr/>
        </p:nvSpPr>
        <p:spPr>
          <a:xfrm>
            <a:off x="9445752" y="4197096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後台修改商品數量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6400800" y="4709160"/>
            <a:ext cx="49377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0D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19672" y="4764024"/>
            <a:ext cx="576072" cy="310896"/>
          </a:xfrm>
          <a:prstGeom prst="roundRect">
            <a:avLst>
              <a:gd name="adj" fmla="val 23529"/>
            </a:avLst>
          </a:prstGeom>
          <a:solidFill>
            <a:srgbClr val="B3443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65392" y="4837176"/>
            <a:ext cx="484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DELETE</a:t>
            </a:r>
            <a:endParaRPr lang="en-US" sz="860" dirty="0"/>
          </a:p>
        </p:txBody>
      </p:sp>
      <p:sp>
        <p:nvSpPr>
          <p:cNvPr id="40" name="Text 38"/>
          <p:cNvSpPr/>
          <p:nvPr/>
        </p:nvSpPr>
        <p:spPr>
          <a:xfrm>
            <a:off x="7205472" y="4818888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27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/api/orders/{id}/items/{pid}</a:t>
            </a:r>
            <a:endParaRPr lang="en-US" sz="870" dirty="0"/>
          </a:p>
        </p:txBody>
      </p:sp>
      <p:sp>
        <p:nvSpPr>
          <p:cNvPr id="41" name="Text 39"/>
          <p:cNvSpPr/>
          <p:nvPr/>
        </p:nvSpPr>
        <p:spPr>
          <a:xfrm>
            <a:off x="9445752" y="4818888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後台刪除訂單商品</a:t>
            </a:r>
            <a:endParaRPr lang="en-US" sz="820" dirty="0"/>
          </a:p>
        </p:txBody>
      </p:sp>
      <p:pic>
        <p:nvPicPr>
          <p:cNvPr id="43" name="圖片 42">
            <a:extLst>
              <a:ext uri="{FF2B5EF4-FFF2-40B4-BE49-F238E27FC236}">
                <a16:creationId xmlns:a16="http://schemas.microsoft.com/office/drawing/2014/main" id="{7177EE51-4C36-473B-B681-56E7C108F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09928"/>
            <a:ext cx="2713892" cy="48188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BE8F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75488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7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Frontend：前台購物車與後台訂單管理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987552"/>
            <a:ext cx="822960" cy="45720"/>
          </a:xfrm>
          <a:prstGeom prst="rect">
            <a:avLst/>
          </a:prstGeom>
          <a:solidFill>
            <a:srgbClr val="BE8F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7899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Vue 將前台與後台分成不同頁面，使用 fetch 呼叫後端 API。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4048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090A0"/>
                </a:solidFill>
              </a:rPr>
              <a:t>JAVA 期中專題｜Order System｜ 9/10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2736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34763" y="1190577"/>
            <a:ext cx="3246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5E0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52523" y="1199721"/>
            <a:ext cx="91440" cy="1097280"/>
          </a:xfrm>
          <a:prstGeom prst="rect">
            <a:avLst/>
          </a:prstGeom>
          <a:solidFill>
            <a:srgbClr val="276D5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91517" y="1260291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7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ProductShopView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99411" y="1664346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商品列表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選擇數量 + / -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加入 localStorage cart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28823" y="3042667"/>
            <a:ext cx="3246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5E0D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34763" y="3051811"/>
            <a:ext cx="91440" cy="1097280"/>
          </a:xfrm>
          <a:prstGeom prst="rect">
            <a:avLst/>
          </a:prstGeom>
          <a:solidFill>
            <a:srgbClr val="BE8F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37533" y="3155717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7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CartView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37533" y="3521477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顯示購物車商品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調整數量與刪除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確認結帳送 POST /api/orders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28823" y="4885613"/>
            <a:ext cx="3246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5E0D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28823" y="4885613"/>
            <a:ext cx="91440" cy="1097280"/>
          </a:xfrm>
          <a:prstGeom prst="rect">
            <a:avLst/>
          </a:prstGeom>
          <a:solidFill>
            <a:srgbClr val="2736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39135" y="5050205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7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AdminOrdersView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39135" y="5415965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顯示會員資料與商品明細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狀態篩選與下拉修改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編輯商品數量 / 刪除</a:t>
            </a:r>
            <a:endParaRPr lang="en-US" sz="1050" dirty="0"/>
          </a:p>
        </p:txBody>
      </p:sp>
      <p:pic>
        <p:nvPicPr>
          <p:cNvPr id="29" name="圖片 28">
            <a:extLst>
              <a:ext uri="{FF2B5EF4-FFF2-40B4-BE49-F238E27FC236}">
                <a16:creationId xmlns:a16="http://schemas.microsoft.com/office/drawing/2014/main" id="{B802C993-D925-09B2-1846-064361769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307592"/>
            <a:ext cx="4114800" cy="5220091"/>
          </a:xfrm>
          <a:prstGeom prst="rect">
            <a:avLst/>
          </a:prstGeom>
        </p:spPr>
      </p:pic>
      <p:pic>
        <p:nvPicPr>
          <p:cNvPr id="31" name="圖片 30">
            <a:extLst>
              <a:ext uri="{FF2B5EF4-FFF2-40B4-BE49-F238E27FC236}">
                <a16:creationId xmlns:a16="http://schemas.microsoft.com/office/drawing/2014/main" id="{E5E8ABE3-CA2E-66C7-BB92-5A0D1DEE4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1534" y="466344"/>
            <a:ext cx="3496418" cy="62270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BE8F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75488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7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測試結果與 Demo 順序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987552"/>
            <a:ext cx="822960" cy="45720"/>
          </a:xfrm>
          <a:prstGeom prst="rect">
            <a:avLst/>
          </a:prstGeom>
          <a:solidFill>
            <a:srgbClr val="BE8F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7899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以實際操作展示訂單系統由前台到後台的完整流程。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4048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090A0"/>
                </a:solidFill>
              </a:rPr>
              <a:t>JAVA 期中專題｜Order System｜ 10/10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2736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508760"/>
            <a:ext cx="5166360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E5E0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" y="1737360"/>
            <a:ext cx="411480" cy="411480"/>
          </a:xfrm>
          <a:prstGeom prst="ellipse">
            <a:avLst/>
          </a:prstGeom>
          <a:solidFill>
            <a:srgbClr val="BE8F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1847088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27048" y="167335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7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前台商城商品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527048" y="198424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選擇商品數量並加入購物車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55080" y="1508760"/>
            <a:ext cx="5166360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E5E0D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19672" y="1737360"/>
            <a:ext cx="411480" cy="411480"/>
          </a:xfrm>
          <a:prstGeom prst="ellipse">
            <a:avLst/>
          </a:prstGeom>
          <a:solidFill>
            <a:srgbClr val="BE8F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38544" y="1847088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104888" y="167335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7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購物車結帳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104888" y="198424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送出多商品訂單，狀態預設為待處理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77240" y="2724912"/>
            <a:ext cx="5166360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E5E0D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1832" y="2953512"/>
            <a:ext cx="411480" cy="411480"/>
          </a:xfrm>
          <a:prstGeom prst="ellipse">
            <a:avLst/>
          </a:prstGeom>
          <a:solidFill>
            <a:srgbClr val="BE8F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0704" y="3063240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527048" y="288950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7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後台訂單管理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527048" y="320040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查看會員資料、商品明細與總金額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55080" y="2724912"/>
            <a:ext cx="5166360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E5E0D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19672" y="2953512"/>
            <a:ext cx="411480" cy="411480"/>
          </a:xfrm>
          <a:prstGeom prst="ellipse">
            <a:avLst/>
          </a:prstGeom>
          <a:solidFill>
            <a:srgbClr val="BE8F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38544" y="3063240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04888" y="288950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7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編輯訂單商品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104888" y="320040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修改數量、刪除商品並同步庫存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77240" y="3941064"/>
            <a:ext cx="5166360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E5E0D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1832" y="4169664"/>
            <a:ext cx="411480" cy="411480"/>
          </a:xfrm>
          <a:prstGeom prst="ellipse">
            <a:avLst/>
          </a:prstGeom>
          <a:solidFill>
            <a:srgbClr val="BE8F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0704" y="4279392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527048" y="410565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7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狀態管理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527048" y="441655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用下拉選單切換待處理 / 已完成 / 已取消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355080" y="3941064"/>
            <a:ext cx="5166360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E5E0D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19672" y="4169664"/>
            <a:ext cx="411480" cy="411480"/>
          </a:xfrm>
          <a:prstGeom prst="ellipse">
            <a:avLst/>
          </a:prstGeom>
          <a:solidFill>
            <a:srgbClr val="BE8F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38544" y="4279392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104888" y="410565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7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我的訂單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104888" y="441655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會員前台查看自己購買內容與最新狀態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77240" y="5440680"/>
            <a:ext cx="1074420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0D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0120" y="5596128"/>
            <a:ext cx="10378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1600" b="1" i="1" u="sng" dirty="0" err="1">
                <a:solidFill>
                  <a:srgbClr val="27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結論：訂單系統完成前台購買、資料表關聯、後台管理與會員查詢</a:t>
            </a:r>
            <a:r>
              <a:rPr lang="en-US" sz="1600" b="1" i="1" u="sng" dirty="0">
                <a:solidFill>
                  <a:srgbClr val="27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r>
              <a:rPr lang="zh-TW" altLang="en-US" sz="1600" b="1" i="1" u="sng" dirty="0">
                <a:solidFill>
                  <a:srgbClr val="27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</a:t>
            </a:r>
            <a:r>
              <a:rPr lang="en-US" sz="1600" b="1" i="1" u="sng" dirty="0" err="1">
                <a:solidFill>
                  <a:srgbClr val="27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期中專題的完整</a:t>
            </a:r>
            <a:r>
              <a:rPr lang="en-US" sz="1600" b="1" i="1" u="sng" dirty="0">
                <a:solidFill>
                  <a:srgbClr val="27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CRUD </a:t>
            </a:r>
            <a:r>
              <a:rPr lang="en-US" sz="1600" b="1" i="1" u="sng" dirty="0" err="1">
                <a:solidFill>
                  <a:srgbClr val="2736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與前後端串接目標</a:t>
            </a:r>
            <a:endParaRPr lang="en-US" sz="1600" b="1" i="1" u="sng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663</Words>
  <Application>Microsoft Office PowerPoint</Application>
  <PresentationFormat>寬螢幕</PresentationFormat>
  <Paragraphs>181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4" baseType="lpstr">
      <vt:lpstr>Microsoft JhengHei</vt:lpstr>
      <vt:lpstr>Arial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星澄飯店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星澄飯店訂單系統期中專題</dc:title>
  <dc:subject>星澄飯店訂單系統</dc:subject>
  <dc:creator>OpenAI</dc:creator>
  <cp:lastModifiedBy>鈺霖 蕭</cp:lastModifiedBy>
  <cp:revision>2</cp:revision>
  <dcterms:created xsi:type="dcterms:W3CDTF">2026-08-26T10:56:34Z</dcterms:created>
  <dcterms:modified xsi:type="dcterms:W3CDTF">2026-08-26T12:46:45Z</dcterms:modified>
</cp:coreProperties>
</file>